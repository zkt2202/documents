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1" r:id="rId2"/>
    <p:sldId id="268" r:id="rId3"/>
    <p:sldId id="270" r:id="rId4"/>
    <p:sldId id="272" r:id="rId5"/>
    <p:sldId id="266" r:id="rId6"/>
    <p:sldId id="269" r:id="rId7"/>
    <p:sldId id="256" r:id="rId8"/>
    <p:sldId id="257" r:id="rId9"/>
    <p:sldId id="260" r:id="rId10"/>
    <p:sldId id="261" r:id="rId11"/>
    <p:sldId id="259" r:id="rId12"/>
    <p:sldId id="262" r:id="rId13"/>
    <p:sldId id="263" r:id="rId14"/>
    <p:sldId id="264" r:id="rId15"/>
    <p:sldId id="265" r:id="rId16"/>
    <p:sldId id="267" r:id="rId17"/>
    <p:sldId id="273" r:id="rId18"/>
    <p:sldId id="258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138FE-8462-42AE-B471-70742CF5D46C}" type="datetimeFigureOut">
              <a:rPr lang="en-US" smtClean="0"/>
              <a:t>5/31/2022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D4F7B-DE2A-4846-BEC1-0F48D0BA4F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156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138FE-8462-42AE-B471-70742CF5D46C}" type="datetimeFigureOut">
              <a:rPr lang="en-US" smtClean="0"/>
              <a:t>5/31/2022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D4F7B-DE2A-4846-BEC1-0F48D0BA4F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414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138FE-8462-42AE-B471-70742CF5D46C}" type="datetimeFigureOut">
              <a:rPr lang="en-US" smtClean="0"/>
              <a:t>5/31/2022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D4F7B-DE2A-4846-BEC1-0F48D0BA4F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055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138FE-8462-42AE-B471-70742CF5D46C}" type="datetimeFigureOut">
              <a:rPr lang="en-US" smtClean="0"/>
              <a:t>5/31/2022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D4F7B-DE2A-4846-BEC1-0F48D0BA4F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412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138FE-8462-42AE-B471-70742CF5D46C}" type="datetimeFigureOut">
              <a:rPr lang="en-US" smtClean="0"/>
              <a:t>5/31/2022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D4F7B-DE2A-4846-BEC1-0F48D0BA4F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389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138FE-8462-42AE-B471-70742CF5D46C}" type="datetimeFigureOut">
              <a:rPr lang="en-US" smtClean="0"/>
              <a:t>5/31/2022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D4F7B-DE2A-4846-BEC1-0F48D0BA4F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079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138FE-8462-42AE-B471-70742CF5D46C}" type="datetimeFigureOut">
              <a:rPr lang="en-US" smtClean="0"/>
              <a:t>5/31/2022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D4F7B-DE2A-4846-BEC1-0F48D0BA4F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5362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138FE-8462-42AE-B471-70742CF5D46C}" type="datetimeFigureOut">
              <a:rPr lang="en-US" smtClean="0"/>
              <a:t>5/31/2022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D4F7B-DE2A-4846-BEC1-0F48D0BA4F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9320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138FE-8462-42AE-B471-70742CF5D46C}" type="datetimeFigureOut">
              <a:rPr lang="en-US" smtClean="0"/>
              <a:t>5/31/2022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D4F7B-DE2A-4846-BEC1-0F48D0BA4F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058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138FE-8462-42AE-B471-70742CF5D46C}" type="datetimeFigureOut">
              <a:rPr lang="en-US" smtClean="0"/>
              <a:t>5/31/2022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D4F7B-DE2A-4846-BEC1-0F48D0BA4F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3464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138FE-8462-42AE-B471-70742CF5D46C}" type="datetimeFigureOut">
              <a:rPr lang="en-US" smtClean="0"/>
              <a:t>5/31/2022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D4F7B-DE2A-4846-BEC1-0F48D0BA4F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0598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4138FE-8462-42AE-B471-70742CF5D46C}" type="datetimeFigureOut">
              <a:rPr lang="en-US" smtClean="0"/>
              <a:t>5/31/2022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7D4F7B-DE2A-4846-BEC1-0F48D0BA4F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4584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7.wmf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16522" y="149468"/>
            <a:ext cx="11684977" cy="658543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4523" y="451852"/>
            <a:ext cx="3809524" cy="184127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665338" y="2967335"/>
            <a:ext cx="886133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 smtClean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FF0000"/>
                </a:solidFill>
              </a:rPr>
              <a:t>KHAI GIẢNG LỚP DEVOPS PRO</a:t>
            </a:r>
            <a:endParaRPr lang="en-US" sz="5400" b="1" cap="none" spc="0" dirty="0">
              <a:ln w="12700" cmpd="sng">
                <a:solidFill>
                  <a:schemeClr val="accent4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735554" y="4087958"/>
            <a:ext cx="4263731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dirty="0" err="1" smtClean="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Giảng</a:t>
            </a:r>
            <a:r>
              <a:rPr lang="en-US" sz="2400" dirty="0" smtClean="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sz="2400" dirty="0" err="1" smtClean="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viên</a:t>
            </a:r>
            <a:r>
              <a:rPr lang="en-US" sz="2400" dirty="0" smtClean="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: </a:t>
            </a:r>
            <a:r>
              <a:rPr lang="en-US" sz="2400" dirty="0" err="1" smtClean="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Nguyễn</a:t>
            </a:r>
            <a:r>
              <a:rPr lang="en-US" sz="2400" dirty="0" smtClean="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sz="2400" dirty="0" err="1" smtClean="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Phạm</a:t>
            </a:r>
            <a:r>
              <a:rPr lang="en-US" sz="2400" dirty="0" smtClean="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sz="2400" dirty="0" err="1" smtClean="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Hoàng</a:t>
            </a:r>
            <a:endParaRPr lang="en-US" sz="2400" b="0" cap="none" spc="0" dirty="0">
              <a:ln w="0"/>
              <a:solidFill>
                <a:srgbClr val="C00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735554" y="4620288"/>
            <a:ext cx="7477881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dirty="0" err="1" smtClean="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Địa</a:t>
            </a:r>
            <a:r>
              <a:rPr lang="en-US" sz="2400" dirty="0" smtClean="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sz="2400" dirty="0" err="1" smtClean="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điểm</a:t>
            </a:r>
            <a:r>
              <a:rPr lang="en-US" sz="2400" dirty="0" smtClean="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sz="2400" dirty="0" err="1" smtClean="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học</a:t>
            </a:r>
            <a:r>
              <a:rPr lang="en-US" sz="2400" dirty="0" smtClean="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sz="2400" dirty="0" err="1" smtClean="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trực</a:t>
            </a:r>
            <a:r>
              <a:rPr lang="en-US" sz="2400" dirty="0" smtClean="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sz="2400" dirty="0" err="1" smtClean="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tiếp</a:t>
            </a:r>
            <a:r>
              <a:rPr lang="en-US" sz="2400" dirty="0" smtClean="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: PNH – 8A </a:t>
            </a:r>
            <a:r>
              <a:rPr lang="en-US" sz="2400" dirty="0" err="1" smtClean="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Tôn</a:t>
            </a:r>
            <a:r>
              <a:rPr lang="en-US" sz="2400" dirty="0" smtClean="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sz="2400" dirty="0" err="1" smtClean="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Thất</a:t>
            </a:r>
            <a:r>
              <a:rPr lang="en-US" sz="2400" dirty="0" smtClean="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sz="2400" dirty="0" err="1" smtClean="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Thuyết</a:t>
            </a:r>
            <a:r>
              <a:rPr lang="en-US" sz="2400" dirty="0" smtClean="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– </a:t>
            </a:r>
            <a:r>
              <a:rPr lang="en-US" sz="2400" dirty="0" err="1" smtClean="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Hà</a:t>
            </a:r>
            <a:r>
              <a:rPr lang="en-US" sz="2400" dirty="0" smtClean="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sz="2400" dirty="0" err="1" smtClean="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nội</a:t>
            </a:r>
            <a:endParaRPr lang="en-US" sz="2400" b="0" cap="none" spc="0" dirty="0">
              <a:ln w="0"/>
              <a:solidFill>
                <a:srgbClr val="C00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735554" y="5054587"/>
            <a:ext cx="6110968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dirty="0" err="1" smtClean="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Khai</a:t>
            </a:r>
            <a:r>
              <a:rPr lang="en-US" sz="2400" dirty="0" smtClean="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sz="2400" dirty="0" err="1" smtClean="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giảng</a:t>
            </a:r>
            <a:r>
              <a:rPr lang="en-US" sz="2400" dirty="0" smtClean="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: 31-05-2022. 19h30-21h30 </a:t>
            </a:r>
            <a:r>
              <a:rPr lang="en-US" sz="2400" dirty="0" err="1" smtClean="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Thứ</a:t>
            </a:r>
            <a:r>
              <a:rPr lang="en-US" sz="2400" dirty="0" smtClean="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3.5.7</a:t>
            </a:r>
            <a:endParaRPr lang="en-US" sz="2400" b="0" cap="none" spc="0" dirty="0">
              <a:ln w="0"/>
              <a:solidFill>
                <a:srgbClr val="C00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797098" y="5585016"/>
            <a:ext cx="1755673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dirty="0" smtClean="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www.pnh.vn</a:t>
            </a:r>
            <a:endParaRPr lang="en-US" sz="2400" b="0" cap="none" spc="0" dirty="0">
              <a:ln w="0"/>
              <a:solidFill>
                <a:srgbClr val="C00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72671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342900" y="263769"/>
            <a:ext cx="11412415" cy="643596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468171" y="443942"/>
            <a:ext cx="5704029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0" cap="none" spc="0" dirty="0" smtClean="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NỘI DUNG KHÓA DEVOPS PRO</a:t>
            </a:r>
            <a:endParaRPr lang="en-US" sz="3200" b="0" cap="none" spc="0" dirty="0">
              <a:ln w="0"/>
              <a:solidFill>
                <a:srgbClr val="FF0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52028" y="1369076"/>
            <a:ext cx="1854290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2400" dirty="0" smtClean="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1. Cloud AWS</a:t>
            </a:r>
            <a:endParaRPr lang="en-US" sz="2400" b="0" cap="none" spc="0" dirty="0">
              <a:ln w="0"/>
              <a:solidFill>
                <a:srgbClr val="C00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54021" y="1751454"/>
            <a:ext cx="907621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2400" dirty="0" smtClean="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2. GIT</a:t>
            </a:r>
            <a:endParaRPr lang="en-US" sz="2400" b="0" cap="none" spc="0" dirty="0">
              <a:ln w="0"/>
              <a:solidFill>
                <a:srgbClr val="C00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54021" y="2132914"/>
            <a:ext cx="1527982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2400" dirty="0" smtClean="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3. ANSIBLE</a:t>
            </a:r>
            <a:endParaRPr lang="en-US" sz="2400" b="0" cap="none" spc="0" dirty="0">
              <a:ln w="0"/>
              <a:solidFill>
                <a:srgbClr val="C00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62035" y="2484244"/>
            <a:ext cx="1519968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2400" dirty="0" smtClean="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4. DOCKER</a:t>
            </a:r>
            <a:endParaRPr lang="en-US" sz="2400" b="0" cap="none" spc="0" dirty="0">
              <a:ln w="0"/>
              <a:solidFill>
                <a:srgbClr val="C00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52028" y="2862461"/>
            <a:ext cx="211211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2400" dirty="0" smtClean="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5. KUBERNETES</a:t>
            </a:r>
            <a:endParaRPr lang="en-US" sz="2400" b="0" cap="none" spc="0" dirty="0">
              <a:ln w="0"/>
              <a:solidFill>
                <a:srgbClr val="C00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52028" y="3270580"/>
            <a:ext cx="2070310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2400" dirty="0" smtClean="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6. TERRAFORM</a:t>
            </a:r>
            <a:endParaRPr lang="en-US" sz="2400" b="0" cap="none" spc="0" dirty="0">
              <a:ln w="0"/>
              <a:solidFill>
                <a:srgbClr val="C00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62035" y="4061250"/>
            <a:ext cx="2359941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2400" dirty="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8</a:t>
            </a:r>
            <a:r>
              <a:rPr lang="en-US" sz="2400" dirty="0" smtClean="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. JENKINS  CI/CD</a:t>
            </a:r>
            <a:endParaRPr lang="en-US" sz="2400" b="0" cap="none" spc="0" dirty="0">
              <a:ln w="0"/>
              <a:solidFill>
                <a:srgbClr val="C00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52028" y="3637453"/>
            <a:ext cx="3786742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2400" dirty="0" smtClean="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7. Prometheus, </a:t>
            </a:r>
            <a:r>
              <a:rPr lang="en-US" sz="2400" dirty="0" err="1" smtClean="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Grafana</a:t>
            </a:r>
            <a:r>
              <a:rPr lang="en-US" sz="2400" dirty="0" smtClean="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, Loki</a:t>
            </a:r>
            <a:endParaRPr lang="en-US" sz="2400" b="0" cap="none" spc="0" dirty="0">
              <a:ln w="0"/>
              <a:solidFill>
                <a:srgbClr val="C00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82115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73959" y="463468"/>
            <a:ext cx="9104928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2400" u="sng" dirty="0" smtClean="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On-Premises – </a:t>
            </a:r>
            <a:r>
              <a:rPr lang="en-US" sz="2400" u="sng" dirty="0" err="1" smtClean="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Hệ</a:t>
            </a:r>
            <a:r>
              <a:rPr lang="en-US" sz="2400" u="sng" dirty="0" smtClean="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sz="2400" u="sng" dirty="0" err="1" smtClean="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thống</a:t>
            </a:r>
            <a:r>
              <a:rPr lang="en-US" sz="2400" u="sng" dirty="0" smtClean="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do </a:t>
            </a:r>
            <a:r>
              <a:rPr lang="en-US" sz="2400" u="sng" dirty="0" err="1" smtClean="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tổ</a:t>
            </a:r>
            <a:r>
              <a:rPr lang="en-US" sz="2400" u="sng" dirty="0" smtClean="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sz="2400" u="sng" dirty="0" err="1" smtClean="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chức</a:t>
            </a:r>
            <a:r>
              <a:rPr lang="en-US" sz="2400" u="sng" dirty="0" smtClean="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sz="2400" u="sng" dirty="0" err="1" smtClean="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sở</a:t>
            </a:r>
            <a:r>
              <a:rPr lang="en-US" sz="2400" u="sng" dirty="0" smtClean="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sz="2400" u="sng" dirty="0" err="1" smtClean="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hữu</a:t>
            </a:r>
            <a:r>
              <a:rPr lang="en-US" sz="2400" u="sng" dirty="0" smtClean="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sz="2400" u="sng" dirty="0" err="1" smtClean="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riêng</a:t>
            </a:r>
            <a:r>
              <a:rPr lang="en-US" sz="2400" u="sng" dirty="0" smtClean="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– </a:t>
            </a:r>
            <a:r>
              <a:rPr lang="en-US" sz="2400" u="sng" dirty="0" err="1" smtClean="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tự</a:t>
            </a:r>
            <a:r>
              <a:rPr lang="en-US" sz="2400" u="sng" dirty="0" smtClean="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sz="2400" u="sng" dirty="0" err="1" smtClean="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xây</a:t>
            </a:r>
            <a:r>
              <a:rPr lang="en-US" sz="2400" u="sng" dirty="0" smtClean="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sz="2400" u="sng" dirty="0" err="1" smtClean="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dựng</a:t>
            </a:r>
            <a:r>
              <a:rPr lang="en-US" sz="2400" u="sng" dirty="0" smtClean="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, </a:t>
            </a:r>
            <a:r>
              <a:rPr lang="en-US" sz="2400" u="sng" dirty="0" err="1" smtClean="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quản</a:t>
            </a:r>
            <a:r>
              <a:rPr lang="en-US" sz="2400" u="sng" dirty="0" smtClean="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sz="2400" u="sng" dirty="0" err="1" smtClean="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lý</a:t>
            </a:r>
            <a:endParaRPr lang="en-US" sz="2400" b="0" u="sng" cap="none" spc="0" dirty="0">
              <a:ln w="0"/>
              <a:solidFill>
                <a:srgbClr val="C00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0457" y="285598"/>
            <a:ext cx="1323176" cy="63953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81624" y="1239715"/>
            <a:ext cx="5002823" cy="5319347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6131169" y="1239715"/>
            <a:ext cx="5002823" cy="5319347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581624" y="1239715"/>
            <a:ext cx="5002823" cy="4228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smtClean="0">
                <a:solidFill>
                  <a:srgbClr val="FFFF00"/>
                </a:solidFill>
              </a:rPr>
              <a:t>HỆ THỐNG MÁY TRẠM, MÁY CHỦ, THIẾT BỊ MẠNG QUẢN LÝ NGƯỜI DÙNG</a:t>
            </a:r>
            <a:endParaRPr lang="en-US" sz="1200" b="1" dirty="0">
              <a:solidFill>
                <a:srgbClr val="FFFF0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131169" y="1239715"/>
            <a:ext cx="5002823" cy="4228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smtClean="0">
                <a:solidFill>
                  <a:srgbClr val="FFFF00"/>
                </a:solidFill>
              </a:rPr>
              <a:t>HỆ THỐNG MÁY CHỦ, THIẾT BỊ MẠNG,  STORAGE CHO ỨNG DỤNG</a:t>
            </a:r>
            <a:endParaRPr lang="en-US" sz="1200" b="1" dirty="0">
              <a:solidFill>
                <a:srgbClr val="FFFF00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1526" y="4755589"/>
            <a:ext cx="690610" cy="49394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1526" y="5608655"/>
            <a:ext cx="690610" cy="493946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5143" y="4755589"/>
            <a:ext cx="690610" cy="493946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5143" y="5608655"/>
            <a:ext cx="690610" cy="493946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3579" y="4755589"/>
            <a:ext cx="690610" cy="493946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3579" y="5608655"/>
            <a:ext cx="690610" cy="493946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2015" y="4755589"/>
            <a:ext cx="690610" cy="493946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2015" y="5608655"/>
            <a:ext cx="690610" cy="493946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398" y="4671639"/>
            <a:ext cx="776121" cy="661845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579" y="5524705"/>
            <a:ext cx="776121" cy="661845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24924" y="1680362"/>
            <a:ext cx="1323810" cy="80000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726928" y="4654809"/>
            <a:ext cx="1809148" cy="158024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3553579" y="4654808"/>
            <a:ext cx="1809148" cy="158024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2655143" y="4671640"/>
            <a:ext cx="794496" cy="156341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1176988" y="4236992"/>
            <a:ext cx="963725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2400" dirty="0" err="1" smtClean="0">
                <a:ln w="0"/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Vlan</a:t>
            </a:r>
            <a:r>
              <a:rPr lang="en-US" sz="2400" dirty="0" smtClean="0">
                <a:ln w="0"/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2</a:t>
            </a:r>
            <a:endParaRPr lang="en-US" sz="2400" b="0" cap="none" spc="0" dirty="0">
              <a:ln w="0"/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2539296" y="4222271"/>
            <a:ext cx="963725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2400" dirty="0" err="1" smtClean="0">
                <a:ln w="0"/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Vlan</a:t>
            </a:r>
            <a:r>
              <a:rPr lang="en-US" sz="2400" dirty="0" smtClean="0">
                <a:ln w="0"/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3</a:t>
            </a:r>
            <a:endParaRPr lang="en-US" sz="2400" b="0" cap="none" spc="0" dirty="0">
              <a:ln w="0"/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3828480" y="4222271"/>
            <a:ext cx="963725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2400" dirty="0" err="1" smtClean="0">
                <a:ln w="0"/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Vlan</a:t>
            </a:r>
            <a:r>
              <a:rPr lang="en-US" sz="2400" dirty="0" smtClean="0">
                <a:ln w="0"/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4</a:t>
            </a:r>
            <a:endParaRPr lang="en-US" sz="2400" b="0" cap="none" spc="0" dirty="0">
              <a:ln w="0"/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700327" y="2838799"/>
            <a:ext cx="1155829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2400" dirty="0" smtClean="0">
                <a:ln w="0"/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Printers</a:t>
            </a:r>
            <a:endParaRPr lang="en-US" sz="2400" b="0" cap="none" spc="0" dirty="0">
              <a:ln w="0"/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39274" y="3069631"/>
            <a:ext cx="1003351" cy="1028752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3522644" y="2662158"/>
            <a:ext cx="1955728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2400" dirty="0" smtClean="0">
                <a:ln w="0"/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AD, </a:t>
            </a:r>
            <a:r>
              <a:rPr lang="en-US" sz="2400" dirty="0" smtClean="0">
                <a:ln w="0"/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File, Email</a:t>
            </a:r>
            <a:endParaRPr lang="en-US" sz="2400" b="0" cap="none" spc="0" dirty="0">
              <a:ln w="0"/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40713" y="3153526"/>
            <a:ext cx="1156639" cy="966926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42266" y="2471716"/>
            <a:ext cx="696995" cy="786930"/>
          </a:xfrm>
          <a:prstGeom prst="rect">
            <a:avLst/>
          </a:prstGeom>
        </p:spPr>
      </p:pic>
      <p:cxnSp>
        <p:nvCxnSpPr>
          <p:cNvPr id="33" name="Straight Connector 32"/>
          <p:cNvCxnSpPr/>
          <p:nvPr/>
        </p:nvCxnSpPr>
        <p:spPr>
          <a:xfrm flipH="1">
            <a:off x="2096067" y="3999346"/>
            <a:ext cx="355435" cy="63699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 flipH="1" flipV="1">
            <a:off x="3236988" y="3649799"/>
            <a:ext cx="1007201" cy="4062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 flipH="1" flipV="1">
            <a:off x="2886830" y="3885125"/>
            <a:ext cx="113618" cy="47845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 flipH="1" flipV="1">
            <a:off x="3111595" y="3743813"/>
            <a:ext cx="738960" cy="89252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 flipV="1">
            <a:off x="2886829" y="3036986"/>
            <a:ext cx="477" cy="29331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 flipV="1">
            <a:off x="2877983" y="2412826"/>
            <a:ext cx="477" cy="29331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5" name="Picture 4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4344" y="3317860"/>
            <a:ext cx="990600" cy="923925"/>
          </a:xfrm>
          <a:prstGeom prst="rect">
            <a:avLst/>
          </a:prstGeom>
        </p:spPr>
      </p:pic>
      <p:pic>
        <p:nvPicPr>
          <p:cNvPr id="49" name="Picture 48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1153" y="1715441"/>
            <a:ext cx="661761" cy="319851"/>
          </a:xfrm>
          <a:prstGeom prst="rect">
            <a:avLst/>
          </a:prstGeom>
        </p:spPr>
      </p:pic>
      <p:pic>
        <p:nvPicPr>
          <p:cNvPr id="51" name="Picture 50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576" y="1715441"/>
            <a:ext cx="661761" cy="319851"/>
          </a:xfrm>
          <a:prstGeom prst="rect">
            <a:avLst/>
          </a:prstGeom>
        </p:spPr>
      </p:pic>
      <p:sp>
        <p:nvSpPr>
          <p:cNvPr id="62" name="Rectangle 61"/>
          <p:cNvSpPr/>
          <p:nvPr/>
        </p:nvSpPr>
        <p:spPr>
          <a:xfrm>
            <a:off x="6263207" y="2951221"/>
            <a:ext cx="1061573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1400" dirty="0" smtClean="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Services API</a:t>
            </a:r>
            <a:endParaRPr lang="en-US" sz="1400" b="0" cap="none" spc="0" dirty="0">
              <a:ln w="0"/>
              <a:solidFill>
                <a:srgbClr val="C00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grpSp>
        <p:nvGrpSpPr>
          <p:cNvPr id="65" name="Group 64"/>
          <p:cNvGrpSpPr/>
          <p:nvPr/>
        </p:nvGrpSpPr>
        <p:grpSpPr>
          <a:xfrm>
            <a:off x="9407903" y="5362222"/>
            <a:ext cx="1149703" cy="734353"/>
            <a:chOff x="6263366" y="5368248"/>
            <a:chExt cx="1291979" cy="919625"/>
          </a:xfrm>
        </p:grpSpPr>
        <p:pic>
          <p:nvPicPr>
            <p:cNvPr id="19" name="Picture 18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6900931" y="5608655"/>
              <a:ext cx="637307" cy="676100"/>
            </a:xfrm>
            <a:prstGeom prst="rect">
              <a:avLst/>
            </a:prstGeom>
          </p:spPr>
        </p:pic>
        <p:pic>
          <p:nvPicPr>
            <p:cNvPr id="46" name="Picture 45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6263366" y="5611773"/>
              <a:ext cx="637307" cy="676100"/>
            </a:xfrm>
            <a:prstGeom prst="rect">
              <a:avLst/>
            </a:prstGeom>
          </p:spPr>
        </p:pic>
        <p:sp>
          <p:nvSpPr>
            <p:cNvPr id="47" name="Rectangle 46"/>
            <p:cNvSpPr/>
            <p:nvPr/>
          </p:nvSpPr>
          <p:spPr>
            <a:xfrm>
              <a:off x="6273448" y="5492567"/>
              <a:ext cx="1281897" cy="76911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8" name="Picture 47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434459" y="5368248"/>
              <a:ext cx="978610" cy="243525"/>
            </a:xfrm>
            <a:prstGeom prst="rect">
              <a:avLst/>
            </a:prstGeom>
          </p:spPr>
        </p:pic>
      </p:grpSp>
      <p:grpSp>
        <p:nvGrpSpPr>
          <p:cNvPr id="55" name="Group 54"/>
          <p:cNvGrpSpPr/>
          <p:nvPr/>
        </p:nvGrpSpPr>
        <p:grpSpPr>
          <a:xfrm>
            <a:off x="9579023" y="4334958"/>
            <a:ext cx="807465" cy="765695"/>
            <a:chOff x="6510662" y="4222271"/>
            <a:chExt cx="807465" cy="765695"/>
          </a:xfrm>
        </p:grpSpPr>
        <p:pic>
          <p:nvPicPr>
            <p:cNvPr id="52" name="Picture 51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6538000" y="4448707"/>
              <a:ext cx="752791" cy="539259"/>
            </a:xfrm>
            <a:prstGeom prst="rect">
              <a:avLst/>
            </a:prstGeom>
          </p:spPr>
        </p:pic>
        <p:sp>
          <p:nvSpPr>
            <p:cNvPr id="53" name="Rectangle 52"/>
            <p:cNvSpPr/>
            <p:nvPr/>
          </p:nvSpPr>
          <p:spPr>
            <a:xfrm>
              <a:off x="6510662" y="4222271"/>
              <a:ext cx="807465" cy="307777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r>
                <a:rPr lang="en-US" sz="1400" dirty="0" smtClean="0">
                  <a:ln w="0"/>
                  <a:solidFill>
                    <a:srgbClr val="C000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Core API</a:t>
              </a:r>
              <a:endParaRPr lang="en-US" sz="1400" b="0" cap="none" spc="0" dirty="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</p:grpSp>
      <p:pic>
        <p:nvPicPr>
          <p:cNvPr id="59" name="Picture 58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552219" y="3796862"/>
            <a:ext cx="1025741" cy="428274"/>
          </a:xfrm>
          <a:prstGeom prst="rect">
            <a:avLst/>
          </a:prstGeom>
        </p:spPr>
      </p:pic>
      <p:pic>
        <p:nvPicPr>
          <p:cNvPr id="61" name="Picture 6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238620" y="3182318"/>
            <a:ext cx="556382" cy="398562"/>
          </a:xfrm>
          <a:prstGeom prst="rect">
            <a:avLst/>
          </a:prstGeom>
        </p:spPr>
      </p:pic>
      <p:pic>
        <p:nvPicPr>
          <p:cNvPr id="63" name="Picture 6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334623" y="3161970"/>
            <a:ext cx="556382" cy="398562"/>
          </a:xfrm>
          <a:prstGeom prst="rect">
            <a:avLst/>
          </a:prstGeom>
        </p:spPr>
      </p:pic>
      <p:sp>
        <p:nvSpPr>
          <p:cNvPr id="64" name="Rectangle 63"/>
          <p:cNvSpPr/>
          <p:nvPr/>
        </p:nvSpPr>
        <p:spPr>
          <a:xfrm>
            <a:off x="10184748" y="2904793"/>
            <a:ext cx="856132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1400" dirty="0" smtClean="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Web App</a:t>
            </a:r>
            <a:endParaRPr lang="en-US" sz="1400" b="0" cap="none" spc="0" dirty="0">
              <a:ln w="0"/>
              <a:solidFill>
                <a:srgbClr val="C00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9102671" y="2692499"/>
            <a:ext cx="1938209" cy="380251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8" name="Picture 67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946621" y="1681087"/>
            <a:ext cx="678923" cy="638188"/>
          </a:xfrm>
          <a:prstGeom prst="rect">
            <a:avLst/>
          </a:prstGeom>
        </p:spPr>
      </p:pic>
      <p:cxnSp>
        <p:nvCxnSpPr>
          <p:cNvPr id="75" name="Straight Arrow Connector 74"/>
          <p:cNvCxnSpPr/>
          <p:nvPr/>
        </p:nvCxnSpPr>
        <p:spPr>
          <a:xfrm flipH="1">
            <a:off x="10258820" y="3560532"/>
            <a:ext cx="127668" cy="222264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/>
          <p:nvPr/>
        </p:nvCxnSpPr>
        <p:spPr>
          <a:xfrm>
            <a:off x="9635566" y="3587343"/>
            <a:ext cx="159436" cy="207029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/>
          <p:cNvCxnSpPr/>
          <p:nvPr/>
        </p:nvCxnSpPr>
        <p:spPr>
          <a:xfrm>
            <a:off x="9933616" y="4218811"/>
            <a:ext cx="0" cy="237824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/>
          <p:cNvCxnSpPr/>
          <p:nvPr/>
        </p:nvCxnSpPr>
        <p:spPr>
          <a:xfrm>
            <a:off x="9933616" y="5115248"/>
            <a:ext cx="0" cy="261569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8" name="Group 87"/>
          <p:cNvGrpSpPr/>
          <p:nvPr/>
        </p:nvGrpSpPr>
        <p:grpSpPr>
          <a:xfrm>
            <a:off x="6777296" y="5401935"/>
            <a:ext cx="1149703" cy="734353"/>
            <a:chOff x="6263366" y="5368248"/>
            <a:chExt cx="1291979" cy="919625"/>
          </a:xfrm>
        </p:grpSpPr>
        <p:pic>
          <p:nvPicPr>
            <p:cNvPr id="104" name="Picture 103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6900931" y="5608655"/>
              <a:ext cx="637307" cy="676100"/>
            </a:xfrm>
            <a:prstGeom prst="rect">
              <a:avLst/>
            </a:prstGeom>
          </p:spPr>
        </p:pic>
        <p:pic>
          <p:nvPicPr>
            <p:cNvPr id="105" name="Picture 104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6263366" y="5611773"/>
              <a:ext cx="637307" cy="676100"/>
            </a:xfrm>
            <a:prstGeom prst="rect">
              <a:avLst/>
            </a:prstGeom>
          </p:spPr>
        </p:pic>
        <p:sp>
          <p:nvSpPr>
            <p:cNvPr id="106" name="Rectangle 105"/>
            <p:cNvSpPr/>
            <p:nvPr/>
          </p:nvSpPr>
          <p:spPr>
            <a:xfrm>
              <a:off x="6273448" y="5492567"/>
              <a:ext cx="1281897" cy="76911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7" name="Picture 106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434459" y="5368248"/>
              <a:ext cx="978610" cy="243525"/>
            </a:xfrm>
            <a:prstGeom prst="rect">
              <a:avLst/>
            </a:prstGeom>
          </p:spPr>
        </p:pic>
      </p:grpSp>
      <p:grpSp>
        <p:nvGrpSpPr>
          <p:cNvPr id="89" name="Group 88"/>
          <p:cNvGrpSpPr/>
          <p:nvPr/>
        </p:nvGrpSpPr>
        <p:grpSpPr>
          <a:xfrm>
            <a:off x="6948416" y="4374671"/>
            <a:ext cx="807465" cy="765695"/>
            <a:chOff x="6510662" y="4222271"/>
            <a:chExt cx="807465" cy="765695"/>
          </a:xfrm>
        </p:grpSpPr>
        <p:pic>
          <p:nvPicPr>
            <p:cNvPr id="102" name="Picture 101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6538000" y="4448707"/>
              <a:ext cx="752791" cy="539259"/>
            </a:xfrm>
            <a:prstGeom prst="rect">
              <a:avLst/>
            </a:prstGeom>
          </p:spPr>
        </p:pic>
        <p:sp>
          <p:nvSpPr>
            <p:cNvPr id="103" name="Rectangle 102"/>
            <p:cNvSpPr/>
            <p:nvPr/>
          </p:nvSpPr>
          <p:spPr>
            <a:xfrm>
              <a:off x="6510662" y="4222271"/>
              <a:ext cx="807465" cy="307777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r>
                <a:rPr lang="en-US" sz="1400" dirty="0" smtClean="0">
                  <a:ln w="0"/>
                  <a:solidFill>
                    <a:srgbClr val="C000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Core API</a:t>
              </a:r>
              <a:endParaRPr lang="en-US" sz="1400" b="0" cap="none" spc="0" dirty="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</p:grpSp>
      <p:pic>
        <p:nvPicPr>
          <p:cNvPr id="90" name="Picture 89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829245" y="3836575"/>
            <a:ext cx="1025741" cy="428274"/>
          </a:xfrm>
          <a:prstGeom prst="rect">
            <a:avLst/>
          </a:prstGeom>
        </p:spPr>
      </p:pic>
      <p:pic>
        <p:nvPicPr>
          <p:cNvPr id="91" name="Picture 9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69466" y="3222031"/>
            <a:ext cx="556382" cy="398562"/>
          </a:xfrm>
          <a:prstGeom prst="rect">
            <a:avLst/>
          </a:prstGeom>
        </p:spPr>
      </p:pic>
      <p:pic>
        <p:nvPicPr>
          <p:cNvPr id="92" name="Picture 9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65469" y="3201683"/>
            <a:ext cx="556382" cy="398562"/>
          </a:xfrm>
          <a:prstGeom prst="rect">
            <a:avLst/>
          </a:prstGeom>
        </p:spPr>
      </p:pic>
      <p:sp>
        <p:nvSpPr>
          <p:cNvPr id="93" name="Rectangle 92"/>
          <p:cNvSpPr/>
          <p:nvPr/>
        </p:nvSpPr>
        <p:spPr>
          <a:xfrm>
            <a:off x="7415594" y="2944506"/>
            <a:ext cx="856132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1400" dirty="0" smtClean="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Web App</a:t>
            </a:r>
            <a:endParaRPr lang="en-US" sz="1400" b="0" cap="none" spc="0" dirty="0">
              <a:ln w="0"/>
              <a:solidFill>
                <a:srgbClr val="C00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94" name="Rectangle 93"/>
          <p:cNvSpPr/>
          <p:nvPr/>
        </p:nvSpPr>
        <p:spPr>
          <a:xfrm>
            <a:off x="6333517" y="2692498"/>
            <a:ext cx="1938209" cy="384222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8" name="Straight Arrow Connector 97"/>
          <p:cNvCxnSpPr/>
          <p:nvPr/>
        </p:nvCxnSpPr>
        <p:spPr>
          <a:xfrm flipH="1">
            <a:off x="7489666" y="3600245"/>
            <a:ext cx="127668" cy="222264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/>
          <p:cNvCxnSpPr/>
          <p:nvPr/>
        </p:nvCxnSpPr>
        <p:spPr>
          <a:xfrm>
            <a:off x="6866412" y="3627056"/>
            <a:ext cx="159436" cy="207029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/>
          <p:cNvCxnSpPr/>
          <p:nvPr/>
        </p:nvCxnSpPr>
        <p:spPr>
          <a:xfrm>
            <a:off x="7303009" y="4258524"/>
            <a:ext cx="0" cy="237824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/>
          <p:cNvCxnSpPr/>
          <p:nvPr/>
        </p:nvCxnSpPr>
        <p:spPr>
          <a:xfrm>
            <a:off x="7164462" y="5154961"/>
            <a:ext cx="0" cy="261569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Rectangle 107"/>
          <p:cNvSpPr/>
          <p:nvPr/>
        </p:nvSpPr>
        <p:spPr>
          <a:xfrm>
            <a:off x="9047372" y="2911508"/>
            <a:ext cx="1061573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1400" dirty="0" smtClean="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Services API</a:t>
            </a:r>
            <a:endParaRPr lang="en-US" sz="1400" b="0" cap="none" spc="0" dirty="0">
              <a:ln w="0"/>
              <a:solidFill>
                <a:srgbClr val="C00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112" name="Straight Arrow Connector 111"/>
          <p:cNvCxnSpPr/>
          <p:nvPr/>
        </p:nvCxnSpPr>
        <p:spPr>
          <a:xfrm>
            <a:off x="8352718" y="4121373"/>
            <a:ext cx="670157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Rectangle 114"/>
          <p:cNvSpPr/>
          <p:nvPr/>
        </p:nvSpPr>
        <p:spPr>
          <a:xfrm>
            <a:off x="8204372" y="3728424"/>
            <a:ext cx="99899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1400" dirty="0" smtClean="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Leased line</a:t>
            </a:r>
            <a:endParaRPr lang="en-US" sz="1400" b="0" cap="none" spc="0" dirty="0">
              <a:ln w="0"/>
              <a:solidFill>
                <a:srgbClr val="C00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117" name="Straight Arrow Connector 116"/>
          <p:cNvCxnSpPr/>
          <p:nvPr/>
        </p:nvCxnSpPr>
        <p:spPr>
          <a:xfrm>
            <a:off x="7279395" y="2366228"/>
            <a:ext cx="6687" cy="27931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Rectangle 117"/>
          <p:cNvSpPr/>
          <p:nvPr/>
        </p:nvSpPr>
        <p:spPr>
          <a:xfrm>
            <a:off x="8293869" y="4163952"/>
            <a:ext cx="692818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1400" dirty="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o</a:t>
            </a:r>
            <a:r>
              <a:rPr lang="en-US" sz="1400" dirty="0" smtClean="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r VPN</a:t>
            </a:r>
            <a:endParaRPr lang="en-US" sz="1400" b="0" cap="none" spc="0" dirty="0">
              <a:ln w="0"/>
              <a:solidFill>
                <a:srgbClr val="C00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19" name="Rectangle 118"/>
          <p:cNvSpPr/>
          <p:nvPr/>
        </p:nvSpPr>
        <p:spPr>
          <a:xfrm>
            <a:off x="9563964" y="2182362"/>
            <a:ext cx="1013996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1400" dirty="0" smtClean="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Backup site</a:t>
            </a:r>
            <a:endParaRPr lang="en-US" sz="1400" b="0" cap="none" spc="0" dirty="0">
              <a:ln w="0"/>
              <a:solidFill>
                <a:srgbClr val="C00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120" name="Picture 119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963742" y="2704971"/>
            <a:ext cx="677757" cy="282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623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73959" y="463468"/>
            <a:ext cx="4022320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2400" u="sng" dirty="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Clouds </a:t>
            </a:r>
            <a:r>
              <a:rPr lang="en-US" sz="2400" u="sng" dirty="0" smtClean="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: AWS and On-premises</a:t>
            </a:r>
            <a:endParaRPr lang="en-US" sz="2400" b="0" u="sng" cap="none" spc="0" dirty="0">
              <a:ln w="0"/>
              <a:solidFill>
                <a:srgbClr val="C00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0457" y="285598"/>
            <a:ext cx="1323176" cy="63953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81625" y="1239715"/>
            <a:ext cx="10871466" cy="5319347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2666" y="1500428"/>
            <a:ext cx="7675661" cy="386166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637942" y="5969062"/>
            <a:ext cx="28455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https://www.cloudcraft.co/</a:t>
            </a:r>
          </a:p>
        </p:txBody>
      </p:sp>
      <p:sp>
        <p:nvSpPr>
          <p:cNvPr id="8" name="Rectangle 7"/>
          <p:cNvSpPr/>
          <p:nvPr/>
        </p:nvSpPr>
        <p:spPr>
          <a:xfrm>
            <a:off x="5116560" y="4404097"/>
            <a:ext cx="495649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1400" dirty="0" smtClean="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VPN</a:t>
            </a:r>
            <a:endParaRPr lang="en-US" sz="1400" b="0" cap="none" spc="0" dirty="0">
              <a:ln w="0"/>
              <a:solidFill>
                <a:srgbClr val="C00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811761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350044" cy="694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710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27282" y="2649168"/>
            <a:ext cx="5704029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0" cap="none" spc="0" dirty="0" smtClean="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1. Cloud </a:t>
            </a:r>
            <a:r>
              <a:rPr lang="en-US" sz="3200" dirty="0" smtClean="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AWS</a:t>
            </a:r>
            <a:endParaRPr lang="en-US" sz="3200" b="0" cap="none" spc="0" dirty="0">
              <a:ln w="0"/>
              <a:solidFill>
                <a:srgbClr val="FF0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696" y="373522"/>
            <a:ext cx="2954865" cy="142818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234656" y="3756243"/>
            <a:ext cx="6882711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400" b="0" u="sng" cap="none" spc="0" dirty="0" err="1" smtClean="0">
                <a:ln w="0"/>
                <a:solidFill>
                  <a:schemeClr val="accent5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Tài</a:t>
            </a:r>
            <a:r>
              <a:rPr lang="en-US" sz="2400" b="0" u="sng" cap="none" spc="0" dirty="0" smtClean="0">
                <a:ln w="0"/>
                <a:solidFill>
                  <a:schemeClr val="accent5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sz="2400" b="0" u="sng" cap="none" spc="0" dirty="0" err="1" smtClean="0">
                <a:ln w="0"/>
                <a:solidFill>
                  <a:schemeClr val="accent5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liệu</a:t>
            </a:r>
            <a:r>
              <a:rPr lang="en-US" sz="2400" u="sng" dirty="0">
                <a:ln w="0"/>
                <a:solidFill>
                  <a:schemeClr val="accent5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: </a:t>
            </a:r>
            <a:endParaRPr lang="en-US" sz="2400" u="sng" dirty="0" smtClean="0">
              <a:ln w="0"/>
              <a:solidFill>
                <a:schemeClr val="accent5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marL="342900" indent="-342900" algn="ctr">
              <a:buFontTx/>
              <a:buChar char="-"/>
            </a:pPr>
            <a:r>
              <a:rPr lang="en-US" sz="2400" dirty="0" smtClean="0">
                <a:ln w="0"/>
                <a:solidFill>
                  <a:schemeClr val="accent5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AWS </a:t>
            </a:r>
            <a:r>
              <a:rPr lang="en-US" sz="2400" dirty="0">
                <a:ln w="0"/>
                <a:solidFill>
                  <a:schemeClr val="accent5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Certified Solutions Architect (</a:t>
            </a:r>
            <a:r>
              <a:rPr lang="en-US" sz="2400" dirty="0" smtClean="0">
                <a:ln w="0"/>
                <a:solidFill>
                  <a:schemeClr val="accent5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SAP-C01)</a:t>
            </a:r>
          </a:p>
          <a:p>
            <a:pPr marL="342900" indent="-342900" algn="ctr">
              <a:buFontTx/>
              <a:buChar char="-"/>
            </a:pPr>
            <a:r>
              <a:rPr lang="en-US" sz="2400" dirty="0" err="1" smtClean="0">
                <a:ln w="0"/>
                <a:solidFill>
                  <a:schemeClr val="accent5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Các</a:t>
            </a:r>
            <a:r>
              <a:rPr lang="en-US" sz="2400" dirty="0" smtClean="0">
                <a:ln w="0"/>
                <a:solidFill>
                  <a:schemeClr val="accent5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sz="2400" dirty="0" err="1" smtClean="0">
                <a:ln w="0"/>
                <a:solidFill>
                  <a:schemeClr val="accent5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bài</a:t>
            </a:r>
            <a:r>
              <a:rPr lang="en-US" sz="2400" dirty="0" smtClean="0">
                <a:ln w="0"/>
                <a:solidFill>
                  <a:schemeClr val="accent5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Lab </a:t>
            </a:r>
            <a:r>
              <a:rPr lang="en-US" sz="2400" dirty="0" err="1" smtClean="0">
                <a:ln w="0"/>
                <a:solidFill>
                  <a:schemeClr val="accent5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theo</a:t>
            </a:r>
            <a:r>
              <a:rPr lang="en-US" sz="2400" dirty="0" smtClean="0">
                <a:ln w="0"/>
                <a:solidFill>
                  <a:schemeClr val="accent5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sz="2400" dirty="0" err="1" smtClean="0">
                <a:ln w="0"/>
                <a:solidFill>
                  <a:schemeClr val="accent5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hướng</a:t>
            </a:r>
            <a:r>
              <a:rPr lang="en-US" sz="2400" dirty="0" smtClean="0">
                <a:ln w="0"/>
                <a:solidFill>
                  <a:schemeClr val="accent5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sz="2400" dirty="0" err="1" smtClean="0">
                <a:ln w="0"/>
                <a:solidFill>
                  <a:schemeClr val="accent5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dẫn</a:t>
            </a:r>
            <a:endParaRPr lang="en-US" sz="2400" b="0" cap="none" spc="0" dirty="0">
              <a:ln w="0"/>
              <a:solidFill>
                <a:schemeClr val="accent5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52245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490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88900"/>
            <a:ext cx="12033955" cy="676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2623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826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17400" cy="6872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4559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091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43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375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552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3030"/>
            <a:ext cx="11973280" cy="6734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567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4047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9289658"/>
              </p:ext>
            </p:extLst>
          </p:nvPr>
        </p:nvGraphicFramePr>
        <p:xfrm>
          <a:off x="183662" y="108194"/>
          <a:ext cx="11724242" cy="6635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1" name="Bitmap Image" r:id="rId3" imgW="13708440" imgH="7734240" progId="Paint.Picture.1">
                  <p:embed/>
                </p:oleObj>
              </mc:Choice>
              <mc:Fallback>
                <p:oleObj name="Bitmap Image" r:id="rId3" imgW="13708440" imgH="7734240" progId="Paint.Picture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3662" y="108194"/>
                        <a:ext cx="11724242" cy="6635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16274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587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1045</TotalTime>
  <Words>175</Words>
  <Application>Microsoft Office PowerPoint</Application>
  <PresentationFormat>Widescreen</PresentationFormat>
  <Paragraphs>38</Paragraphs>
  <Slides>18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Office Theme</vt:lpstr>
      <vt:lpstr>Bitmap Image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xzhoang</dc:creator>
  <cp:lastModifiedBy>xzhoang@pnh.com.vn</cp:lastModifiedBy>
  <cp:revision>47</cp:revision>
  <dcterms:created xsi:type="dcterms:W3CDTF">2022-02-20T11:12:03Z</dcterms:created>
  <dcterms:modified xsi:type="dcterms:W3CDTF">2022-05-31T10:15:11Z</dcterms:modified>
</cp:coreProperties>
</file>